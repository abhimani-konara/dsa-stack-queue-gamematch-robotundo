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tTriangle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82296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STRUCTURES &amp; ALGORITHMS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20040" y="1170432"/>
            <a:ext cx="6858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&amp; Queue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320040" y="2121408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Applications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320040" y="2834640"/>
            <a:ext cx="3474720" cy="6858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2834640"/>
            <a:ext cx="3474720" cy="68580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 #10
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Movement Undo System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931920" y="2834640"/>
            <a:ext cx="3840480" cy="685800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31920" y="2834640"/>
            <a:ext cx="3840480" cy="68580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 #10
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Game Matchmaking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0040" y="464515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10  •  KIC-HNDCSAI-261-F-001, 004, 014, 28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Overview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841248"/>
            <a:ext cx="4114800" cy="1115568"/>
          </a:xfrm>
          <a:prstGeom prst="rect">
            <a:avLst/>
          </a:prstGeom>
          <a:solidFill>
            <a:srgbClr val="F7F9FC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841248"/>
            <a:ext cx="457200" cy="111556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841248"/>
            <a:ext cx="4572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78408" y="932688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Concept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978408" y="1344168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LIFO principle, operations &amp; real-world uses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841248"/>
            <a:ext cx="4114800" cy="1115568"/>
          </a:xfrm>
          <a:prstGeom prst="rect">
            <a:avLst/>
          </a:prstGeom>
          <a:solidFill>
            <a:srgbClr val="F7F9FC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841248"/>
            <a:ext cx="457200" cy="1115568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841248"/>
            <a:ext cx="4572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321808" y="932688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Concept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321808" y="1344168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FIFO principle, operations &amp; real-world uses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1480" y="2167128"/>
            <a:ext cx="4114800" cy="1115568"/>
          </a:xfrm>
          <a:prstGeom prst="rect">
            <a:avLst/>
          </a:prstGeom>
          <a:solidFill>
            <a:srgbClr val="F7F9FC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2167128"/>
            <a:ext cx="457200" cy="111556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167128"/>
            <a:ext cx="4572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78408" y="2258568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Scenario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978408" y="2670048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Movement Undo – how Stack was applied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2167128"/>
            <a:ext cx="4114800" cy="1115568"/>
          </a:xfrm>
          <a:prstGeom prst="rect">
            <a:avLst/>
          </a:prstGeom>
          <a:solidFill>
            <a:srgbClr val="F7F9FC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54880" y="2167128"/>
            <a:ext cx="457200" cy="1115568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2167128"/>
            <a:ext cx="4572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321808" y="2258568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Scenario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321808" y="2670048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Game Matchmaking – how Queue was applied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" y="3493008"/>
            <a:ext cx="4114800" cy="1115568"/>
          </a:xfrm>
          <a:prstGeom prst="rect">
            <a:avLst/>
          </a:prstGeom>
          <a:solidFill>
            <a:srgbClr val="F7F9FC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" y="3493008"/>
            <a:ext cx="457200" cy="111556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3493008"/>
            <a:ext cx="4572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78408" y="3584448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&amp; Highlights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978408" y="3995928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results and key implementation moments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54880" y="3493008"/>
            <a:ext cx="4114800" cy="1115568"/>
          </a:xfrm>
          <a:prstGeom prst="rect">
            <a:avLst/>
          </a:prstGeom>
          <a:solidFill>
            <a:srgbClr val="F7F9FC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54880" y="3493008"/>
            <a:ext cx="457200" cy="11155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3493008"/>
            <a:ext cx="4572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5321808" y="3584448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Conclusion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5321808" y="3995928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learned and our final takeaway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11480" y="4828032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 presentation  +  5 min Q&amp;A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09728"/>
            <a:ext cx="1920240" cy="20116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— CONCEPT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11480" y="292608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 —  LIFO: Last In, First Out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11480" y="877824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a stack of plates: you always add and remove from the top.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4160520" cy="2121408"/>
          </a:xfrm>
          <a:prstGeom prst="rect">
            <a:avLst/>
          </a:prstGeom>
          <a:solidFill>
            <a:srgbClr val="FFFFFF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258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Operations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719072"/>
            <a:ext cx="1417320" cy="29260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71907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push(x)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984248" y="1719072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element x to the TOP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920" y="2103120"/>
            <a:ext cx="1417320" cy="29260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10312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pop()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984248" y="2103120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&amp; return the TOP element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2487168"/>
            <a:ext cx="1417320" cy="29260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48716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peek()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984248" y="2487168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TOP without removing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2920" y="2871216"/>
            <a:ext cx="1417320" cy="29260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87121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isEmpty()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984248" y="2871216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if stack has no elements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02920" y="3255264"/>
            <a:ext cx="1417320" cy="29260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255264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isFull()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984248" y="3255264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if stack is at capacity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754880" y="13258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709160" y="157276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F8C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push(UP)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4800600" y="1810512"/>
            <a:ext cx="1005840" cy="310896"/>
          </a:xfrm>
          <a:prstGeom prst="rect">
            <a:avLst/>
          </a:prstGeom>
          <a:solidFill>
            <a:srgbClr val="1B4F72"/>
          </a:solidFill>
          <a:ln w="12700">
            <a:solidFill>
              <a:srgbClr val="7F8C8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1810512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800600" y="2157984"/>
            <a:ext cx="1005840" cy="310896"/>
          </a:xfrm>
          <a:prstGeom prst="rect">
            <a:avLst/>
          </a:prstGeom>
          <a:solidFill>
            <a:srgbClr val="EEF2F7"/>
          </a:solidFill>
          <a:ln w="12700">
            <a:solidFill>
              <a:srgbClr val="7F8C8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00600" y="2505456"/>
            <a:ext cx="1005840" cy="310896"/>
          </a:xfrm>
          <a:prstGeom prst="rect">
            <a:avLst/>
          </a:prstGeom>
          <a:solidFill>
            <a:srgbClr val="EEF2F7"/>
          </a:solidFill>
          <a:ln w="12700">
            <a:solidFill>
              <a:srgbClr val="7F8C8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00600" y="2852928"/>
            <a:ext cx="1005840" cy="5486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43016" y="1993392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TOP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6099048" y="157276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F8C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push(RIGHT)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6190488" y="1810512"/>
            <a:ext cx="1005840" cy="310896"/>
          </a:xfrm>
          <a:prstGeom prst="rect">
            <a:avLst/>
          </a:prstGeom>
          <a:solidFill>
            <a:srgbClr val="E67E22"/>
          </a:solidFill>
          <a:ln w="12700">
            <a:solidFill>
              <a:srgbClr val="7F8C8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90488" y="1810512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RIGHT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190488" y="2157984"/>
            <a:ext cx="1005840" cy="310896"/>
          </a:xfrm>
          <a:prstGeom prst="rect">
            <a:avLst/>
          </a:prstGeom>
          <a:solidFill>
            <a:srgbClr val="1B4F72"/>
          </a:solidFill>
          <a:ln w="12700">
            <a:solidFill>
              <a:srgbClr val="7F8C8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90488" y="2157984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190488" y="2505456"/>
            <a:ext cx="1005840" cy="310896"/>
          </a:xfrm>
          <a:prstGeom prst="rect">
            <a:avLst/>
          </a:prstGeom>
          <a:solidFill>
            <a:srgbClr val="EEF2F7"/>
          </a:solidFill>
          <a:ln w="12700">
            <a:solidFill>
              <a:srgbClr val="7F8C8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190488" y="2852928"/>
            <a:ext cx="1005840" cy="5486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232904" y="1993392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TOP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7488936" y="157276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F8C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pop()→RIGHT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7580376" y="1810512"/>
            <a:ext cx="1005840" cy="310896"/>
          </a:xfrm>
          <a:prstGeom prst="rect">
            <a:avLst/>
          </a:prstGeom>
          <a:solidFill>
            <a:srgbClr val="EEF2F7"/>
          </a:solidFill>
          <a:ln w="12700">
            <a:solidFill>
              <a:srgbClr val="7F8C8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580376" y="2157984"/>
            <a:ext cx="1005840" cy="310896"/>
          </a:xfrm>
          <a:prstGeom prst="rect">
            <a:avLst/>
          </a:prstGeom>
          <a:solidFill>
            <a:srgbClr val="1B4F72"/>
          </a:solidFill>
          <a:ln w="12700">
            <a:solidFill>
              <a:srgbClr val="7F8C8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580376" y="2157984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580376" y="2505456"/>
            <a:ext cx="1005840" cy="310896"/>
          </a:xfrm>
          <a:prstGeom prst="rect">
            <a:avLst/>
          </a:prstGeom>
          <a:solidFill>
            <a:srgbClr val="EEF2F7"/>
          </a:solidFill>
          <a:ln w="12700">
            <a:solidFill>
              <a:srgbClr val="7F8C8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580376" y="2852928"/>
            <a:ext cx="1005840" cy="5486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622792" y="1993392"/>
            <a:ext cx="457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TOP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365760" y="349300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Uses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365760" y="3913632"/>
            <a:ext cx="201168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65760" y="3913632"/>
            <a:ext cx="2011680" cy="237744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38912" y="4187952"/>
            <a:ext cx="18653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Browser Back Button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438912" y="4535424"/>
            <a:ext cx="1865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page pushed; Back pops the last one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2560320" y="3913632"/>
            <a:ext cx="201168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560320" y="3913632"/>
            <a:ext cx="2011680" cy="237744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633472" y="4187952"/>
            <a:ext cx="18653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↩️  Ctrl+Z  Undo / Redo</a:t>
            </a:r>
            <a:endParaRPr lang="en-US" sz="1150" dirty="0"/>
          </a:p>
        </p:txBody>
      </p:sp>
      <p:sp>
        <p:nvSpPr>
          <p:cNvPr id="54" name="Text 52"/>
          <p:cNvSpPr/>
          <p:nvPr/>
        </p:nvSpPr>
        <p:spPr>
          <a:xfrm>
            <a:off x="2633472" y="4535424"/>
            <a:ext cx="1865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edit pushed; Ctrl+Z pops &amp; reverses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4754880" y="3913632"/>
            <a:ext cx="201168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754880" y="3913632"/>
            <a:ext cx="2011680" cy="23774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828032" y="4187952"/>
            <a:ext cx="18653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Function Call Stack</a:t>
            </a:r>
            <a:endParaRPr lang="en-US" sz="1150" dirty="0"/>
          </a:p>
        </p:txBody>
      </p:sp>
      <p:sp>
        <p:nvSpPr>
          <p:cNvPr id="58" name="Text 56"/>
          <p:cNvSpPr/>
          <p:nvPr/>
        </p:nvSpPr>
        <p:spPr>
          <a:xfrm>
            <a:off x="4828032" y="4535424"/>
            <a:ext cx="1865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address pushed on call, popped on return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6949440" y="3913632"/>
            <a:ext cx="201168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949440" y="3913632"/>
            <a:ext cx="2011680" cy="237744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022592" y="4187952"/>
            <a:ext cx="18653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Robot Movement Undo</a:t>
            </a:r>
            <a:endParaRPr lang="en-US" sz="1150" dirty="0"/>
          </a:p>
        </p:txBody>
      </p:sp>
      <p:sp>
        <p:nvSpPr>
          <p:cNvPr id="62" name="Text 60"/>
          <p:cNvSpPr/>
          <p:nvPr/>
        </p:nvSpPr>
        <p:spPr>
          <a:xfrm>
            <a:off x="7022592" y="4535424"/>
            <a:ext cx="1865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scenario — every move pushed, undo pops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09728"/>
            <a:ext cx="1920240" cy="201168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— CONCEPT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11480" y="292608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 —  FIFO: First In, First Out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11480" y="877824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a checkout line: the first person to join is the first to be served.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4160520" cy="2121408"/>
          </a:xfrm>
          <a:prstGeom prst="rect">
            <a:avLst/>
          </a:prstGeom>
          <a:solidFill>
            <a:srgbClr val="FFFFFF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258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Operations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719072"/>
            <a:ext cx="1417320" cy="292608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719072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enqueue(x)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984248" y="1719072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element to the REAR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920" y="2103120"/>
            <a:ext cx="1417320" cy="29260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10312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dequeue()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984248" y="2103120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&amp; return FRONT element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2487168"/>
            <a:ext cx="1417320" cy="292608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48716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peek()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984248" y="2487168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FRONT without removing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2920" y="2871216"/>
            <a:ext cx="1417320" cy="29260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871216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isEmpty()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984248" y="2871216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if queue has no elements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02920" y="3255264"/>
            <a:ext cx="1417320" cy="292608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255264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isFull()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984248" y="3255264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if queue is at capacity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754880" y="13258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754880" y="173736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8F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enqueue(Abdullah)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492240" y="1737360"/>
            <a:ext cx="1005840" cy="347472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92240" y="173736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Abdullah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492240" y="2176272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FRONT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4754880" y="224942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8F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enqueue(John)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492240" y="2249424"/>
            <a:ext cx="1005840" cy="347472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92240" y="2249424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Abdullah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7498080" y="2249424"/>
            <a:ext cx="1005840" cy="347472"/>
          </a:xfrm>
          <a:prstGeom prst="rect">
            <a:avLst/>
          </a:prstGeom>
          <a:solidFill>
            <a:srgbClr val="E8F8F5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98080" y="2249424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492240" y="2688336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FRONT</a:t>
            </a:r>
            <a:endParaRPr lang="en-US" sz="650" dirty="0"/>
          </a:p>
        </p:txBody>
      </p:sp>
      <p:sp>
        <p:nvSpPr>
          <p:cNvPr id="34" name="Text 32"/>
          <p:cNvSpPr/>
          <p:nvPr/>
        </p:nvSpPr>
        <p:spPr>
          <a:xfrm>
            <a:off x="4754880" y="276148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48F7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enqueue(Sara)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492240" y="2761488"/>
            <a:ext cx="731520" cy="347472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92240" y="2761488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Abdullah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7223760" y="2761488"/>
            <a:ext cx="731520" cy="347472"/>
          </a:xfrm>
          <a:prstGeom prst="rect">
            <a:avLst/>
          </a:prstGeom>
          <a:solidFill>
            <a:srgbClr val="E8F8F5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223760" y="2761488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7955280" y="2761488"/>
            <a:ext cx="731520" cy="347472"/>
          </a:xfrm>
          <a:prstGeom prst="rect">
            <a:avLst/>
          </a:prstGeom>
          <a:solidFill>
            <a:srgbClr val="E8F8F5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955280" y="2761488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6492240" y="320040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FRONT</a:t>
            </a:r>
            <a:endParaRPr lang="en-US" sz="650" dirty="0"/>
          </a:p>
        </p:txBody>
      </p:sp>
      <p:sp>
        <p:nvSpPr>
          <p:cNvPr id="42" name="Text 40"/>
          <p:cNvSpPr/>
          <p:nvPr/>
        </p:nvSpPr>
        <p:spPr>
          <a:xfrm>
            <a:off x="4754880" y="32735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67E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dequeue()→Abdullah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6492240" y="3273552"/>
            <a:ext cx="1005840" cy="347472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92240" y="327355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7498080" y="3273552"/>
            <a:ext cx="1005840" cy="347472"/>
          </a:xfrm>
          <a:prstGeom prst="rect">
            <a:avLst/>
          </a:prstGeom>
          <a:solidFill>
            <a:srgbClr val="E8F8F5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498080" y="327355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6492240" y="3712464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FRONT</a:t>
            </a:r>
            <a:endParaRPr lang="en-US" sz="650" dirty="0"/>
          </a:p>
        </p:txBody>
      </p:sp>
      <p:sp>
        <p:nvSpPr>
          <p:cNvPr id="48" name="Text 46"/>
          <p:cNvSpPr/>
          <p:nvPr/>
        </p:nvSpPr>
        <p:spPr>
          <a:xfrm>
            <a:off x="365760" y="3493008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Uses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365760" y="3913632"/>
            <a:ext cx="201168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65760" y="3913632"/>
            <a:ext cx="2011680" cy="237744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38912" y="4187952"/>
            <a:ext cx="18653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🖨️  Printer Spooler</a:t>
            </a:r>
            <a:endParaRPr lang="en-US" sz="1150" dirty="0"/>
          </a:p>
        </p:txBody>
      </p:sp>
      <p:sp>
        <p:nvSpPr>
          <p:cNvPr id="52" name="Text 50"/>
          <p:cNvSpPr/>
          <p:nvPr/>
        </p:nvSpPr>
        <p:spPr>
          <a:xfrm>
            <a:off x="438912" y="4535424"/>
            <a:ext cx="1865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job submitted is first to print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2560320" y="3913632"/>
            <a:ext cx="201168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560320" y="3913632"/>
            <a:ext cx="2011680" cy="237744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633472" y="4187952"/>
            <a:ext cx="18653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OS Scheduling</a:t>
            </a:r>
            <a:endParaRPr lang="en-US" sz="1150" dirty="0"/>
          </a:p>
        </p:txBody>
      </p:sp>
      <p:sp>
        <p:nvSpPr>
          <p:cNvPr id="56" name="Text 54"/>
          <p:cNvSpPr/>
          <p:nvPr/>
        </p:nvSpPr>
        <p:spPr>
          <a:xfrm>
            <a:off x="2633472" y="4535424"/>
            <a:ext cx="1865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picks the process waiting longest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4754880" y="3913632"/>
            <a:ext cx="201168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754880" y="3913632"/>
            <a:ext cx="2011680" cy="237744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828032" y="4187952"/>
            <a:ext cx="18653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 Hospital Triage</a:t>
            </a:r>
            <a:endParaRPr lang="en-US" sz="1150" dirty="0"/>
          </a:p>
        </p:txBody>
      </p:sp>
      <p:sp>
        <p:nvSpPr>
          <p:cNvPr id="60" name="Text 58"/>
          <p:cNvSpPr/>
          <p:nvPr/>
        </p:nvSpPr>
        <p:spPr>
          <a:xfrm>
            <a:off x="4828032" y="4535424"/>
            <a:ext cx="1865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seen in arrival order (FIFO)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6949440" y="3913632"/>
            <a:ext cx="201168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6949440" y="3913632"/>
            <a:ext cx="2011680" cy="237744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022592" y="4187952"/>
            <a:ext cx="18653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🎮  Game Matchmaking</a:t>
            </a:r>
            <a:endParaRPr lang="en-US" sz="1150" dirty="0"/>
          </a:p>
        </p:txBody>
      </p:sp>
      <p:sp>
        <p:nvSpPr>
          <p:cNvPr id="64" name="Text 62"/>
          <p:cNvSpPr/>
          <p:nvPr/>
        </p:nvSpPr>
        <p:spPr>
          <a:xfrm>
            <a:off x="7022592" y="4535424"/>
            <a:ext cx="18653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scenario — first player queued matched first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09728"/>
            <a:ext cx="2194560" cy="20116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SCENARIO  #10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11480" y="292608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Movement Undo System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11480" y="877824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applied the Stack to solve a real problem.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4114800" cy="1417320"/>
          </a:xfrm>
          <a:prstGeom prst="rect">
            <a:avLst/>
          </a:prstGeom>
          <a:solidFill>
            <a:srgbClr val="FFF8F0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2588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64592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robot navigates a 7×7 grid starting at centre (3,3). Every move — UP, DOWN, LEFT, RIGHT — must be recordable, and any move must be reversible with an Undo command.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2788920"/>
            <a:ext cx="4114800" cy="1463040"/>
          </a:xfrm>
          <a:prstGeom prst="rect">
            <a:avLst/>
          </a:prstGeom>
          <a:solidFill>
            <a:srgbClr val="FFF8F0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88036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Stack?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20040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recent move must always be undone first → that is exactly LIFO. A Stack automatically enforces this order — we never have to search for the right move to reverse.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4343400"/>
            <a:ext cx="4114800" cy="548640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4407408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4F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 ↔ DOWN   |   LEFT ↔ RIGHT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754880" y="12344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Stack Was Applied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54880" y="1627632"/>
            <a:ext cx="347472" cy="347472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16276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175504" y="1627632"/>
            <a:ext cx="35478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move() calls push(direction) — stores 'UP', 'DOWN', etc. on the stack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54880" y="2377440"/>
            <a:ext cx="347472" cy="347472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23774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175504" y="2377440"/>
            <a:ext cx="35478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undo() calls pop() — retrieves last move and applies inverse direction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754880" y="3127248"/>
            <a:ext cx="347472" cy="347472"/>
          </a:xfrm>
          <a:prstGeom prst="ellipse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31272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175504" y="3127248"/>
            <a:ext cx="35478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isEmpty() guard prevents undo crash on empty stack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54880" y="3877056"/>
            <a:ext cx="347472" cy="347472"/>
          </a:xfrm>
          <a:prstGeom prst="ellipse">
            <a:avLst/>
          </a:prstGeom>
          <a:solidFill>
            <a:srgbClr val="7F8C8D"/>
          </a:solidFill>
          <a:ln w="12700">
            <a:solidFill>
              <a:srgbClr val="7F8C8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38770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175504" y="3877056"/>
            <a:ext cx="35478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Bounds check on nx,ny rejects illegal moves before pushing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074920" y="4617720"/>
            <a:ext cx="233172" cy="233172"/>
          </a:xfrm>
          <a:prstGeom prst="rect">
            <a:avLst/>
          </a:prstGeom>
          <a:solidFill>
            <a:srgbClr val="FFFFFF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308092" y="4617720"/>
            <a:ext cx="233172" cy="233172"/>
          </a:xfrm>
          <a:prstGeom prst="rect">
            <a:avLst/>
          </a:prstGeom>
          <a:solidFill>
            <a:srgbClr val="FFFFFF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541264" y="4617720"/>
            <a:ext cx="233172" cy="233172"/>
          </a:xfrm>
          <a:prstGeom prst="rect">
            <a:avLst/>
          </a:prstGeom>
          <a:solidFill>
            <a:srgbClr val="FFFFFF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774436" y="4617720"/>
            <a:ext cx="233172" cy="233172"/>
          </a:xfrm>
          <a:prstGeom prst="rect">
            <a:avLst/>
          </a:prstGeom>
          <a:solidFill>
            <a:srgbClr val="E67E22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74436" y="4617720"/>
            <a:ext cx="233172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600" dirty="0"/>
          </a:p>
        </p:txBody>
      </p:sp>
      <p:sp>
        <p:nvSpPr>
          <p:cNvPr id="32" name="Shape 30"/>
          <p:cNvSpPr/>
          <p:nvPr/>
        </p:nvSpPr>
        <p:spPr>
          <a:xfrm>
            <a:off x="6007608" y="4617720"/>
            <a:ext cx="233172" cy="233172"/>
          </a:xfrm>
          <a:prstGeom prst="rect">
            <a:avLst/>
          </a:prstGeom>
          <a:solidFill>
            <a:srgbClr val="FFFFFF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240780" y="4617720"/>
            <a:ext cx="233172" cy="233172"/>
          </a:xfrm>
          <a:prstGeom prst="rect">
            <a:avLst/>
          </a:prstGeom>
          <a:solidFill>
            <a:srgbClr val="FFFFFF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73952" y="4617720"/>
            <a:ext cx="233172" cy="233172"/>
          </a:xfrm>
          <a:prstGeom prst="rect">
            <a:avLst/>
          </a:prstGeom>
          <a:solidFill>
            <a:srgbClr val="FFFFFF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074920" y="4850892"/>
            <a:ext cx="233172" cy="233172"/>
          </a:xfrm>
          <a:prstGeom prst="rect">
            <a:avLst/>
          </a:prstGeom>
          <a:solidFill>
            <a:srgbClr val="FFFFFF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308092" y="4850892"/>
            <a:ext cx="233172" cy="233172"/>
          </a:xfrm>
          <a:prstGeom prst="rect">
            <a:avLst/>
          </a:prstGeom>
          <a:solidFill>
            <a:srgbClr val="FFFFFF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541264" y="4850892"/>
            <a:ext cx="233172" cy="233172"/>
          </a:xfrm>
          <a:prstGeom prst="rect">
            <a:avLst/>
          </a:prstGeom>
          <a:solidFill>
            <a:srgbClr val="FFFFFF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774436" y="4850892"/>
            <a:ext cx="233172" cy="233172"/>
          </a:xfrm>
          <a:prstGeom prst="rect">
            <a:avLst/>
          </a:prstGeom>
          <a:solidFill>
            <a:srgbClr val="FFFFFF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07608" y="4850892"/>
            <a:ext cx="233172" cy="233172"/>
          </a:xfrm>
          <a:prstGeom prst="rect">
            <a:avLst/>
          </a:prstGeom>
          <a:solidFill>
            <a:srgbClr val="FFFFFF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240780" y="4850892"/>
            <a:ext cx="233172" cy="233172"/>
          </a:xfrm>
          <a:prstGeom prst="rect">
            <a:avLst/>
          </a:prstGeom>
          <a:solidFill>
            <a:srgbClr val="FFFFFF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473952" y="4850892"/>
            <a:ext cx="233172" cy="233172"/>
          </a:xfrm>
          <a:prstGeom prst="rect">
            <a:avLst/>
          </a:prstGeom>
          <a:solidFill>
            <a:srgbClr val="FFFFFF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074920" y="5084064"/>
            <a:ext cx="233172" cy="233172"/>
          </a:xfrm>
          <a:prstGeom prst="rect">
            <a:avLst/>
          </a:prstGeom>
          <a:solidFill>
            <a:srgbClr val="FFFFFF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308092" y="5084064"/>
            <a:ext cx="233172" cy="233172"/>
          </a:xfrm>
          <a:prstGeom prst="rect">
            <a:avLst/>
          </a:prstGeom>
          <a:solidFill>
            <a:srgbClr val="FFFFFF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541264" y="5084064"/>
            <a:ext cx="233172" cy="233172"/>
          </a:xfrm>
          <a:prstGeom prst="rect">
            <a:avLst/>
          </a:prstGeom>
          <a:solidFill>
            <a:srgbClr val="FFFFFF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774436" y="5084064"/>
            <a:ext cx="233172" cy="233172"/>
          </a:xfrm>
          <a:prstGeom prst="rect">
            <a:avLst/>
          </a:prstGeom>
          <a:solidFill>
            <a:srgbClr val="FFFFFF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007608" y="5084064"/>
            <a:ext cx="233172" cy="233172"/>
          </a:xfrm>
          <a:prstGeom prst="rect">
            <a:avLst/>
          </a:prstGeom>
          <a:solidFill>
            <a:srgbClr val="FFFFFF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240780" y="5084064"/>
            <a:ext cx="233172" cy="233172"/>
          </a:xfrm>
          <a:prstGeom prst="rect">
            <a:avLst/>
          </a:prstGeom>
          <a:solidFill>
            <a:srgbClr val="FFFFFF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473952" y="5084064"/>
            <a:ext cx="233172" cy="233172"/>
          </a:xfrm>
          <a:prstGeom prst="rect">
            <a:avLst/>
          </a:prstGeom>
          <a:solidFill>
            <a:srgbClr val="FFFFFF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074920" y="5362956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at (3,0) after 3× UP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09728"/>
            <a:ext cx="2194560" cy="201168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SCENARIO  #10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11480" y="292608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Game Matchmaking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11480" y="877824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applied the Queue to solve a real problem.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4114800" cy="1417320"/>
          </a:xfrm>
          <a:prstGeom prst="rect">
            <a:avLst/>
          </a:prstGeom>
          <a:solidFill>
            <a:srgbClr val="F0FDF9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2588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64592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Players waiting for an online game need to be matched fairly. Each player has a username, rank, and level. The player who has waited longest must always be matched first.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2788920"/>
            <a:ext cx="4114800" cy="1463040"/>
          </a:xfrm>
          <a:prstGeom prst="rect">
            <a:avLst/>
          </a:prstGeom>
          <a:solidFill>
            <a:srgbClr val="F0FDF9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88036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Queue?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20040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arrived must be first served → that is exactly FIFO. A Queue guarantees fairness automatically — no player can jump ahead of someone who joined earlier.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4343400"/>
            <a:ext cx="4114800" cy="548640"/>
          </a:xfrm>
          <a:prstGeom prst="rect">
            <a:avLst/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4407408"/>
            <a:ext cx="1143000" cy="365760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4407408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828800" y="4407408"/>
            <a:ext cx="1143000" cy="365760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28800" y="4407408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154680" y="4407408"/>
            <a:ext cx="1143000" cy="365760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54680" y="4407408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754880" y="12344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Queue Was Applied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754880" y="1627632"/>
            <a:ext cx="347472" cy="347472"/>
          </a:xfrm>
          <a:prstGeom prst="ellipse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16276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175504" y="1627632"/>
            <a:ext cx="35478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 joins → enqueue(player) adds them to the REAR of the queue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754880" y="2377440"/>
            <a:ext cx="347472" cy="347472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23774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175504" y="2377440"/>
            <a:ext cx="35478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triggered → dequeue() removes FRONT player (longest waiting)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54880" y="3127248"/>
            <a:ext cx="347472" cy="347472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31272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175504" y="3127248"/>
            <a:ext cx="35478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isEmpty() guard prevents dequeue crash on empty queue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754880" y="3877056"/>
            <a:ext cx="347472" cy="347472"/>
          </a:xfrm>
          <a:prstGeom prst="ellipse">
            <a:avLst/>
          </a:prstGeom>
          <a:solidFill>
            <a:srgbClr val="7F8C8D"/>
          </a:solidFill>
          <a:ln w="12700">
            <a:solidFill>
              <a:srgbClr val="7F8C8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38770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175504" y="3877056"/>
            <a:ext cx="35478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Single-element reset (front==rear → both=-1) keeps isEmpty accurate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754880" y="464515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state: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126480" y="4617720"/>
            <a:ext cx="914400" cy="347472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26480" y="461772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Abdullah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114032" y="4617720"/>
            <a:ext cx="914400" cy="347472"/>
          </a:xfrm>
          <a:prstGeom prst="rect">
            <a:avLst/>
          </a:prstGeom>
          <a:solidFill>
            <a:srgbClr val="E8F8F5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114032" y="461772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8101584" y="4617720"/>
            <a:ext cx="914400" cy="347472"/>
          </a:xfrm>
          <a:prstGeom prst="rect">
            <a:avLst/>
          </a:prstGeom>
          <a:solidFill>
            <a:srgbClr val="E8F8F5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101584" y="461772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126480" y="4965192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FRONT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09728"/>
            <a:ext cx="2194560" cy="20116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&amp; HIGHLIGHTS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11480" y="292608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Results from Our Implementation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11480" y="877824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output and critical code moments.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23444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— Robot Console Output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572768"/>
            <a:ext cx="4114800" cy="2468880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664208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Move: UP   → Robot at (3,2)</a:t>
            </a:r>
            <a:endParaRPr lang="en-US" sz="880" dirty="0"/>
          </a:p>
        </p:txBody>
      </p:sp>
      <p:sp>
        <p:nvSpPr>
          <p:cNvPr id="9" name="Text 7"/>
          <p:cNvSpPr/>
          <p:nvPr/>
        </p:nvSpPr>
        <p:spPr>
          <a:xfrm>
            <a:off x="502920" y="1909267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Move: UP   → Robot at (3,1)</a:t>
            </a:r>
            <a:endParaRPr lang="en-US" sz="880" dirty="0"/>
          </a:p>
        </p:txBody>
      </p:sp>
      <p:sp>
        <p:nvSpPr>
          <p:cNvPr id="10" name="Text 8"/>
          <p:cNvSpPr/>
          <p:nvPr/>
        </p:nvSpPr>
        <p:spPr>
          <a:xfrm>
            <a:off x="502920" y="2154326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Move: RIGHT → Robot at (4,1)</a:t>
            </a:r>
            <a:endParaRPr lang="en-US" sz="880" dirty="0"/>
          </a:p>
        </p:txBody>
      </p:sp>
      <p:sp>
        <p:nvSpPr>
          <p:cNvPr id="11" name="Text 9"/>
          <p:cNvSpPr/>
          <p:nvPr/>
        </p:nvSpPr>
        <p:spPr>
          <a:xfrm>
            <a:off x="502920" y="2399386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Move: RIGHT → Robot at (5,1)</a:t>
            </a:r>
            <a:endParaRPr lang="en-US" sz="880" dirty="0"/>
          </a:p>
        </p:txBody>
      </p:sp>
      <p:sp>
        <p:nvSpPr>
          <p:cNvPr id="12" name="Text 10"/>
          <p:cNvSpPr/>
          <p:nvPr/>
        </p:nvSpPr>
        <p:spPr>
          <a:xfrm>
            <a:off x="502920" y="2644445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Move: DOWN → Robot at (5,2)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502920" y="2889504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─────────────────────────────</a:t>
            </a:r>
            <a:endParaRPr lang="en-US" sz="880" dirty="0"/>
          </a:p>
        </p:txBody>
      </p:sp>
      <p:sp>
        <p:nvSpPr>
          <p:cNvPr id="14" name="Text 12"/>
          <p:cNvSpPr/>
          <p:nvPr/>
        </p:nvSpPr>
        <p:spPr>
          <a:xfrm>
            <a:off x="502920" y="3134563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ABC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Undo: DOWN → Robot at (5,1)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502920" y="3379622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ABC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Undo: RIGHT → Robot at (4,1)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502920" y="3624682"/>
            <a:ext cx="3840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ABC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Undo: RIGHT → Robot at (3,1)</a:t>
            </a:r>
            <a:endParaRPr lang="en-US" sz="880" dirty="0"/>
          </a:p>
        </p:txBody>
      </p:sp>
      <p:sp>
        <p:nvSpPr>
          <p:cNvPr id="17" name="Text 15"/>
          <p:cNvSpPr/>
          <p:nvPr/>
        </p:nvSpPr>
        <p:spPr>
          <a:xfrm>
            <a:off x="4663440" y="123444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— Matchmaking Console Output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63440" y="1572768"/>
            <a:ext cx="4114800" cy="3246120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1645920"/>
            <a:ext cx="38404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Abdullah joined the queue</a:t>
            </a:r>
            <a:endParaRPr lang="en-US" sz="820" dirty="0"/>
          </a:p>
        </p:txBody>
      </p:sp>
      <p:sp>
        <p:nvSpPr>
          <p:cNvPr id="20" name="Text 18"/>
          <p:cNvSpPr/>
          <p:nvPr/>
        </p:nvSpPr>
        <p:spPr>
          <a:xfrm>
            <a:off x="4800600" y="1856232"/>
            <a:ext cx="38404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John joined the queue</a:t>
            </a:r>
            <a:endParaRPr lang="en-US" sz="820" dirty="0"/>
          </a:p>
        </p:txBody>
      </p:sp>
      <p:sp>
        <p:nvSpPr>
          <p:cNvPr id="21" name="Text 19"/>
          <p:cNvSpPr/>
          <p:nvPr/>
        </p:nvSpPr>
        <p:spPr>
          <a:xfrm>
            <a:off x="4800600" y="2066544"/>
            <a:ext cx="38404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Sara joined the queue</a:t>
            </a:r>
            <a:endParaRPr lang="en-US" sz="820" dirty="0"/>
          </a:p>
        </p:txBody>
      </p:sp>
      <p:sp>
        <p:nvSpPr>
          <p:cNvPr id="22" name="Text 20"/>
          <p:cNvSpPr/>
          <p:nvPr/>
        </p:nvSpPr>
        <p:spPr>
          <a:xfrm>
            <a:off x="4800600" y="2276856"/>
            <a:ext cx="38404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──────────────────────────</a:t>
            </a:r>
            <a:endParaRPr lang="en-US" sz="820" dirty="0"/>
          </a:p>
        </p:txBody>
      </p:sp>
      <p:sp>
        <p:nvSpPr>
          <p:cNvPr id="23" name="Text 21"/>
          <p:cNvSpPr/>
          <p:nvPr/>
        </p:nvSpPr>
        <p:spPr>
          <a:xfrm>
            <a:off x="4800600" y="2487168"/>
            <a:ext cx="38404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Queue:</a:t>
            </a:r>
            <a:endParaRPr lang="en-US" sz="820" dirty="0"/>
          </a:p>
        </p:txBody>
      </p:sp>
      <p:sp>
        <p:nvSpPr>
          <p:cNvPr id="24" name="Text 22"/>
          <p:cNvSpPr/>
          <p:nvPr/>
        </p:nvSpPr>
        <p:spPr>
          <a:xfrm>
            <a:off x="4800600" y="2697480"/>
            <a:ext cx="38404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Abdullah | Gold | Lvl 32</a:t>
            </a:r>
            <a:endParaRPr lang="en-US" sz="820" dirty="0"/>
          </a:p>
        </p:txBody>
      </p:sp>
      <p:sp>
        <p:nvSpPr>
          <p:cNvPr id="25" name="Text 23"/>
          <p:cNvSpPr/>
          <p:nvPr/>
        </p:nvSpPr>
        <p:spPr>
          <a:xfrm>
            <a:off x="4800600" y="2907792"/>
            <a:ext cx="38404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John     | Silver | Lvl 15</a:t>
            </a:r>
            <a:endParaRPr lang="en-US" sz="820" dirty="0"/>
          </a:p>
        </p:txBody>
      </p:sp>
      <p:sp>
        <p:nvSpPr>
          <p:cNvPr id="26" name="Text 24"/>
          <p:cNvSpPr/>
          <p:nvPr/>
        </p:nvSpPr>
        <p:spPr>
          <a:xfrm>
            <a:off x="4800600" y="3118104"/>
            <a:ext cx="38404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Sara     | Platinum | Lvl 48</a:t>
            </a:r>
            <a:endParaRPr lang="en-US" sz="820" dirty="0"/>
          </a:p>
        </p:txBody>
      </p:sp>
      <p:sp>
        <p:nvSpPr>
          <p:cNvPr id="27" name="Text 25"/>
          <p:cNvSpPr/>
          <p:nvPr/>
        </p:nvSpPr>
        <p:spPr>
          <a:xfrm>
            <a:off x="4800600" y="3328416"/>
            <a:ext cx="38404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──────────────────────────</a:t>
            </a:r>
            <a:endParaRPr lang="en-US" sz="820" dirty="0"/>
          </a:p>
        </p:txBody>
      </p:sp>
      <p:sp>
        <p:nvSpPr>
          <p:cNvPr id="28" name="Text 26"/>
          <p:cNvSpPr/>
          <p:nvPr/>
        </p:nvSpPr>
        <p:spPr>
          <a:xfrm>
            <a:off x="4800600" y="3538728"/>
            <a:ext cx="38404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F39C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Matched: Abdullah | Gold | 32</a:t>
            </a:r>
            <a:endParaRPr lang="en-US" sz="820" dirty="0"/>
          </a:p>
        </p:txBody>
      </p:sp>
      <p:sp>
        <p:nvSpPr>
          <p:cNvPr id="29" name="Text 27"/>
          <p:cNvSpPr/>
          <p:nvPr/>
        </p:nvSpPr>
        <p:spPr>
          <a:xfrm>
            <a:off x="4800600" y="3749040"/>
            <a:ext cx="38404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44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──────────────────────────</a:t>
            </a:r>
            <a:endParaRPr lang="en-US" sz="820" dirty="0"/>
          </a:p>
        </p:txBody>
      </p:sp>
      <p:sp>
        <p:nvSpPr>
          <p:cNvPr id="30" name="Text 28"/>
          <p:cNvSpPr/>
          <p:nvPr/>
        </p:nvSpPr>
        <p:spPr>
          <a:xfrm>
            <a:off x="4800600" y="3959352"/>
            <a:ext cx="38404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Queue After Match:</a:t>
            </a:r>
            <a:endParaRPr lang="en-US" sz="820" dirty="0"/>
          </a:p>
        </p:txBody>
      </p:sp>
      <p:sp>
        <p:nvSpPr>
          <p:cNvPr id="31" name="Text 29"/>
          <p:cNvSpPr/>
          <p:nvPr/>
        </p:nvSpPr>
        <p:spPr>
          <a:xfrm>
            <a:off x="4800600" y="4169664"/>
            <a:ext cx="38404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John     | Silver | Lvl 15</a:t>
            </a:r>
            <a:endParaRPr lang="en-US" sz="820" dirty="0"/>
          </a:p>
        </p:txBody>
      </p:sp>
      <p:sp>
        <p:nvSpPr>
          <p:cNvPr id="32" name="Text 30"/>
          <p:cNvSpPr/>
          <p:nvPr/>
        </p:nvSpPr>
        <p:spPr>
          <a:xfrm>
            <a:off x="4800600" y="4379976"/>
            <a:ext cx="38404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98C3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Sara     | Platinum | Lvl 48</a:t>
            </a:r>
            <a:endParaRPr lang="en-US" sz="820" dirty="0"/>
          </a:p>
        </p:txBody>
      </p:sp>
      <p:sp>
        <p:nvSpPr>
          <p:cNvPr id="33" name="Text 31"/>
          <p:cNvSpPr/>
          <p:nvPr/>
        </p:nvSpPr>
        <p:spPr>
          <a:xfrm>
            <a:off x="365760" y="416052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Stack correctly undid 3 moves in LIFO order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365760" y="445312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Robot returned to exact prior positions each time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109728"/>
            <a:ext cx="2286000" cy="20116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972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LESSONS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11480" y="292608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Faced &amp; What We Learned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11480" y="877824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problems we ran into and how we solved them.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115568"/>
            <a:ext cx="4114800" cy="1719072"/>
          </a:xfrm>
          <a:prstGeom prst="rect">
            <a:avLst/>
          </a:prstGeom>
          <a:solidFill>
            <a:srgbClr val="F7F9FC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115568"/>
            <a:ext cx="91440" cy="1719072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188720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Queue's Two-Pointer Reset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66928" y="1517904"/>
            <a:ext cx="3794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When the last player was dequeued, only incrementing front left the queue incorrectly reporting as non-empty — breaking all subsequent operations.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66928" y="2139696"/>
            <a:ext cx="3794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We added the condition: if (front == rear) reset both to -1. This correctly signals the queue is empty again.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09160" y="1115568"/>
            <a:ext cx="4114800" cy="1719072"/>
          </a:xfrm>
          <a:prstGeom prst="rect">
            <a:avLst/>
          </a:prstGeom>
          <a:solidFill>
            <a:srgbClr val="F7F9FC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1115568"/>
            <a:ext cx="91440" cy="171907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10328" y="1188720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Out-of-Bounds Moves (Stack)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10328" y="1517904"/>
            <a:ext cx="3794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Initially the robot could move off the grid edge, causing invalid positions and corrupting the stack with moves that shouldn't exist.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910328" y="2139696"/>
            <a:ext cx="3794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We compute new coordinates in temporary variables (nx, ny) and validate BEFORE updating x,y and pushing to the stack.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990088"/>
            <a:ext cx="4114800" cy="1719072"/>
          </a:xfrm>
          <a:prstGeom prst="rect">
            <a:avLst/>
          </a:prstGeom>
          <a:solidFill>
            <a:srgbClr val="F7F9FC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990088"/>
            <a:ext cx="91440" cy="171907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3063240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++top vs top++ (Pre vs Post Increment)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66928" y="3392424"/>
            <a:ext cx="3794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Using post-increment in push meant we wrote to the wrong array index — overwriting existing data instead of the next empty slot.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66928" y="4014216"/>
            <a:ext cx="3794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Switching to pre-increment (arr[++top]) fixed push. Post-decrement (arr[top--]) was correct for pop — return first, then decrement.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709160" y="2990088"/>
            <a:ext cx="4114800" cy="1719072"/>
          </a:xfrm>
          <a:prstGeom prst="rect">
            <a:avLst/>
          </a:prstGeom>
          <a:solidFill>
            <a:srgbClr val="F7F9FC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09160" y="2990088"/>
            <a:ext cx="91440" cy="1719072"/>
          </a:xfrm>
          <a:prstGeom prst="rect">
            <a:avLst/>
          </a:prstGeom>
          <a:solidFill>
            <a:srgbClr val="7F8C8D"/>
          </a:solidFill>
          <a:ln w="12700">
            <a:solidFill>
              <a:srgbClr val="7F8C8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10328" y="3063240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LIFO vs FIFO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10328" y="3392424"/>
            <a:ext cx="3794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Initially unclear why a Stack couldn't just be used for matchmaking — the distinction between needing reversal vs needing fairness wasn't obvious at first.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910328" y="4014216"/>
            <a:ext cx="3794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8F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We realised: Stack = most recent first (reversal). Queue = earliest first (fairness). Two different guarantees, two different problems.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25603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84048" y="960120"/>
            <a:ext cx="3886200" cy="34747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96012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(LIFO)  —  Robot Movement Undo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3749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5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Each move pushed → complete undo history maintained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3749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5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pop() reverses most recent move in O(1) time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3749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5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Bounds check + isEmpty guard ensure robustness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2743200"/>
            <a:ext cx="3749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5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LIFO makes reversal a built-in guarantee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0" y="960120"/>
            <a:ext cx="4206240" cy="347472"/>
          </a:xfrm>
          <a:prstGeom prst="rect">
            <a:avLst/>
          </a:prstGeom>
          <a:solidFill>
            <a:srgbClr val="148F77"/>
          </a:solidFill>
          <a:ln w="12700">
            <a:solidFill>
              <a:srgbClr val="148F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96012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(FIFO)  —  Online Matchmaking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45152" y="1371600"/>
            <a:ext cx="4069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5F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Players enqueued in arrival order → fair matching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645152" y="1828800"/>
            <a:ext cx="4069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5F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dequeue() always serves longest-waiting player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645152" y="2286000"/>
            <a:ext cx="4069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5F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Single-element reset keeps isEmpty reliable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645152" y="2743200"/>
            <a:ext cx="4069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5F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FIFO makes fairness a built-in guarantee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84048" y="3401568"/>
            <a:ext cx="8412480" cy="0"/>
          </a:xfrm>
          <a:prstGeom prst="line">
            <a:avLst/>
          </a:prstGeom>
          <a:noFill/>
          <a:ln w="12700">
            <a:solidFill>
              <a:srgbClr val="2D405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34930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84048" y="3803904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Stack enforces reversal (LIFO). A Queue enforces fairness (FIFO). Both use simple arrays with pointer variables and achieve O(1) per core operation — making them efficient, elegant, and directly applicable to real systems.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84048" y="4773168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D40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10  •  KIC-HNDCSAI-261-F-001, 004, 014, 28  •  Stack &amp; Queue — Real-World Applications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Stack &amp; Queue – Group 10</dc:title>
  <dc:subject>PptxGenJS Presentation</dc:subject>
  <dc:creator>PptxGenJS</dc:creator>
  <cp:lastModifiedBy>PptxGenJS</cp:lastModifiedBy>
  <cp:revision>1</cp:revision>
  <dcterms:created xsi:type="dcterms:W3CDTF">2026-05-18T06:13:25Z</dcterms:created>
  <dcterms:modified xsi:type="dcterms:W3CDTF">2026-05-18T06:13:25Z</dcterms:modified>
</cp:coreProperties>
</file>